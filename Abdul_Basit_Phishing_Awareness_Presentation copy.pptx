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822960"/>
            <a:ext cx="1371600" cy="1371600"/>
          </a:xfrm>
          <a:prstGeom prst="ellipse">
            <a:avLst/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92640" y="8229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initiating secure_session.exe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PRESENTATION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Phishing Awareness Demo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A Fake Login Page Backend System — Built and Explained Line by Line in Java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749040"/>
            <a:ext cx="2926080" cy="0"/>
          </a:xfrm>
          <a:prstGeom prst="line">
            <a:avLst/>
          </a:prstGeom>
          <a:noFill/>
          <a:ln w="19050">
            <a:solidFill>
              <a:srgbClr val="2455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023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Abdul Basit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ID: 0001115254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OOP Lab — CS3506  |  Instructor: Ms. Rabiyah Bibi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Allama Iqbal Open University (AIOU)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Phishing Still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most common cyberattack in the world — and the least understood.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8308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 organizations experienced a phishing attack in the past year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43400" y="20116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in 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617720" y="28346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cannot reliably tell a fake login page from a real one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0116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321040" y="28346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phishing remains the top initial access method in data breaches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0881360" cy="1783080"/>
          </a:xfrm>
          <a:prstGeom prst="roundRect">
            <a:avLst>
              <a:gd name="adj" fmla="val 3077"/>
            </a:avLst>
          </a:prstGeom>
          <a:solidFill>
            <a:srgbClr val="1A1000"/>
          </a:solidFill>
          <a:ln w="12700">
            <a:solidFill>
              <a:srgbClr val="E0B23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058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THIS PROJECT'S CORE IDEA: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05840" y="48006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you build a phishing page yourself — safely, and by hand — you understand exactly what to look for as a defender, far better than any slide deck can teach you.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Objective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and build an educational Fake Login Page Backend in Java that demonstrates, in a fully safe and controlled environment, exactly how phishing attacks are technically constructed — without ever capturing or storing real user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277063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Java HTTP server serving a fake login page on localhost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0215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348386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 convincing dark-terminal login page mimicking a real attack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215384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15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419709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proper HTTP routing — GET for the page, POST for the form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928616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491032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 the attack's outcome safely, instead of capturing real data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5641848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641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25880" y="5623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Produce a live, in-app phishing awareness guide teaching real skills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9164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HARDWARE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359152"/>
            <a:ext cx="2880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06040"/>
            <a:ext cx="2880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 laptop - Win / macOS / Linux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GB RAM minimum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internet required (localhost only)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SOFTWARE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17720" y="2359152"/>
            <a:ext cx="2880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606040"/>
            <a:ext cx="2880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JDK 17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Code + Java Extension Pack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 modern browser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69164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KNOWLEDGE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359152"/>
            <a:ext cx="2880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06040"/>
            <a:ext cx="2880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Basic Java: classes, interfaces, I/O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Basic HTML &amp; CSS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basics: GET / POST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›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Cybersecurity awareness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0881360" cy="621792"/>
          </a:xfrm>
          <a:prstGeom prst="roundRect">
            <a:avLst>
              <a:gd name="adj" fmla="val 7353"/>
            </a:avLst>
          </a:prstGeom>
          <a:solidFill>
            <a:srgbClr val="1A1000"/>
          </a:solidFill>
          <a:ln w="12700">
            <a:solidFill>
              <a:srgbClr val="E0B23C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14400" y="5989320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[!] Ethical requirement: runs on localhost only — no real credentials are ever captured or stored.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Development Process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and tested personally, start to finish, in a single focused session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1993392" cy="3977640"/>
          </a:xfrm>
          <a:prstGeom prst="roundRect">
            <a:avLst>
              <a:gd name="adj" fmla="val 275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057400"/>
            <a:ext cx="457200" cy="45720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Setup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17190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Installed JDK 17, configured VS Code with the Java Extension Pack, verified java -version.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606040" y="35204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52928" y="1828800"/>
            <a:ext cx="1993392" cy="3977640"/>
          </a:xfrm>
          <a:prstGeom prst="roundRect">
            <a:avLst>
              <a:gd name="adj" fmla="val 275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54096" y="2057400"/>
            <a:ext cx="457200" cy="45720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5409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90088" y="26517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Development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90088" y="3337560"/>
            <a:ext cx="17190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Wrote Server.java from scratch: HttpServer setup, route registration, and HttpHandler classes.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18888" y="35204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5776" y="1828800"/>
            <a:ext cx="1993392" cy="3977640"/>
          </a:xfrm>
          <a:prstGeom prst="roundRect">
            <a:avLst>
              <a:gd name="adj" fmla="val 275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66944" y="2057400"/>
            <a:ext cx="457200" cy="45720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94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02936" y="26517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Design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02936" y="3337560"/>
            <a:ext cx="17190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login.html - dark terminal theme, form fields, styling, and the on-page disclaimer.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31736" y="35204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78624" y="1828800"/>
            <a:ext cx="1993392" cy="3977640"/>
          </a:xfrm>
          <a:prstGeom prst="roundRect">
            <a:avLst>
              <a:gd name="adj" fmla="val 275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79792" y="2057400"/>
            <a:ext cx="457200" cy="45720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7979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15784" y="26517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 &amp; Debugging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415784" y="3337560"/>
            <a:ext cx="17190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Compiled and ran locally, fixed a port-conflict and a text-encoding issue in the response.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44584" y="35204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491472" y="1828800"/>
            <a:ext cx="1993392" cy="3977640"/>
          </a:xfrm>
          <a:prstGeom prst="roundRect">
            <a:avLst>
              <a:gd name="adj" fmla="val 275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92640" y="2057400"/>
            <a:ext cx="457200" cy="45720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628632" y="26517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 Control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628632" y="3337560"/>
            <a:ext cx="17190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Initialized Git, wrote the README, committed, and pushed the full project to GitHub.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the System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Java's built-in com.sun.net.httpserver.HttpServer — no external frameworks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20240"/>
            <a:ext cx="2468880" cy="3566160"/>
          </a:xfrm>
          <a:prstGeom prst="roundRect">
            <a:avLst>
              <a:gd name="adj" fmla="val 222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48840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-&gt; GET /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visits localhost:8080. Server routes the request to LoginPageHandler.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3566160"/>
          </a:xfrm>
          <a:prstGeom prst="roundRect">
            <a:avLst>
              <a:gd name="adj" fmla="val 222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2148840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7889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 -&gt; login.html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66160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 reads the HTML file from disk and returns it as the response.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80644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126480" y="1920240"/>
            <a:ext cx="2468880" cy="3566160"/>
          </a:xfrm>
          <a:prstGeom prst="roundRect">
            <a:avLst>
              <a:gd name="adj" fmla="val 222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2148840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09360" y="27889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submits form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sends a POST request to /submit with the form data.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4964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869680" y="1920240"/>
            <a:ext cx="2468880" cy="3566160"/>
          </a:xfrm>
          <a:prstGeom prst="roundRect">
            <a:avLst>
              <a:gd name="adj" fmla="val 2222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2148840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82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052560" y="27889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SubmitHandler responds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052560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Returns a fixed educational explanation - form data is never read or logged.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Deliberate Design Decision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Keeping the demo safe by construction, not just by promise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5257800" cy="4206240"/>
          </a:xfrm>
          <a:prstGeom prst="roundRect">
            <a:avLst>
              <a:gd name="adj" fmla="val 1304"/>
            </a:avLst>
          </a:prstGeom>
          <a:solidFill>
            <a:srgbClr val="0D1410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F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A REAL PHISHING KIT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✗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the POST body from the login form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Parses out the username &amp; password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them to a log file with FileWriter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Silently redirects the victim, hiding the attack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57800" cy="4206240"/>
          </a:xfrm>
          <a:prstGeom prst="roundRect">
            <a:avLst>
              <a:gd name="adj" fmla="val 1304"/>
            </a:avLst>
          </a:prstGeom>
          <a:solidFill>
            <a:srgbClr val="0D1410"/>
          </a:solidFill>
          <a:ln w="12700">
            <a:solidFill>
              <a:srgbClr val="39FF1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THIS PROJECT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0" y="25603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Ignores the POST body completely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 parses or touches submitted data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Returns a fixed, pre-written explanation instead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Shows the user exactly what would have happened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dark hacker-terminal theme — why convincing design is the whole lesson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4206240" cy="4434840"/>
          </a:xfrm>
          <a:prstGeom prst="roundRect">
            <a:avLst>
              <a:gd name="adj" fmla="val 1304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4206240" cy="365760"/>
          </a:xfrm>
          <a:prstGeom prst="rect">
            <a:avLst/>
          </a:prstGeom>
          <a:solidFill>
            <a:srgbClr val="111A11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856232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1856232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856232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secure-portal@aiou:~$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WEB PORTAL // AUTH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051560" y="3035808"/>
            <a:ext cx="3749040" cy="384048"/>
          </a:xfrm>
          <a:prstGeom prst="roundRect">
            <a:avLst>
              <a:gd name="adj" fmla="val 4762"/>
            </a:avLst>
          </a:prstGeom>
          <a:solidFill>
            <a:srgbClr val="050A05"/>
          </a:solidFill>
          <a:ln w="9525">
            <a:solidFill>
              <a:srgbClr val="2455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03580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user@aiou.edu.pk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35295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051560" y="3776472"/>
            <a:ext cx="3749040" cy="384048"/>
          </a:xfrm>
          <a:prstGeom prst="roundRect">
            <a:avLst>
              <a:gd name="adj" fmla="val 4762"/>
            </a:avLst>
          </a:prstGeom>
          <a:solidFill>
            <a:srgbClr val="050A05"/>
          </a:solidFill>
          <a:ln w="9525">
            <a:solidFill>
              <a:srgbClr val="2455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37764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********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51560" y="4297680"/>
            <a:ext cx="3749040" cy="402336"/>
          </a:xfrm>
          <a:prstGeom prst="roundRect">
            <a:avLst>
              <a:gd name="adj" fmla="val 6818"/>
            </a:avLst>
          </a:prstGeom>
          <a:solidFill>
            <a:srgbClr val="39FF14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29768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7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AUTHENTICATE_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51560" y="4864608"/>
            <a:ext cx="3749040" cy="1170432"/>
          </a:xfrm>
          <a:prstGeom prst="roundRect">
            <a:avLst>
              <a:gd name="adj" fmla="val 2344"/>
            </a:avLst>
          </a:prstGeom>
          <a:solidFill>
            <a:srgbClr val="1A1000"/>
          </a:solidFill>
          <a:ln w="9525">
            <a:solidFill>
              <a:srgbClr val="E0B23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188720" y="4864608"/>
            <a:ext cx="3474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[!] ACADEMIC DEMO ONLY - simulated phishing page for OOP coursework. No credentials stored or transmitted.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03520" y="1828800"/>
            <a:ext cx="6217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Deliberately realistic elements: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›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 terminal window with macOS-style title bar dots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›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Monospace font + green glow text - classic hacker visual language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›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ASCII-art logo and a blinking terminal cursor for realism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›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visible disclaimer directly on the page - never hidden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Lesson: it takes very little effort to make a page look trustworthy - which is exactly why you must check more than appearance.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Engineering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 depth added beyond the original proposal scope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9164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81051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176479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 Terminal UI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51960" y="1764792"/>
            <a:ext cx="7086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page - login, result, and awareness guide - uses a consistent hacker-terminal aesthetic.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67919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63040" y="263347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Access Logging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51960" y="2633472"/>
            <a:ext cx="7086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FileWriter logs every visit's timestamp + browser user-agent to logs/access_log.txt - real, working, non-sensitive.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54787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35021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/awareness Route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51960" y="3502152"/>
            <a:ext cx="7086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third HttpHandler serves a full guide page - warning signs, a real-vs-fake table, and a response checklist.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9768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41655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63040" y="437083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 Anatomy Breakdown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251960" y="4370832"/>
            <a:ext cx="7086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result page explains the 4-step attack chain a real phishing kit would execute, step by step.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16636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528523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3040" y="523951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Countdown Redirect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251960" y="5239512"/>
            <a:ext cx="7086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visible JavaScript countdown auto-returns the user to the login page - transparent, never hidden.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Object-Oriented Concepts Applied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9164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47672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9476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HttpHandler is implemented separately by LoginPageHandler and SubmitHandler, each defining its own handle() method.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947672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19476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Encapsulation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handler owns its own request/response logic - main() doesn't need to know how either works internally.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142232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1422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Abstraction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4754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HttpServer and HttpExchange hide raw socket details, letting the code focus on routing and content.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88620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142232"/>
            <a:ext cx="502920" cy="502920"/>
          </a:xfrm>
          <a:prstGeom prst="ellipse">
            <a:avLst/>
          </a:prstGeom>
          <a:solidFill>
            <a:srgbClr val="0A150A"/>
          </a:solidFill>
          <a:ln w="12700">
            <a:solidFill>
              <a:srgbClr val="245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41422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I/O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0" y="4754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Files.readAllBytes() reads login.html from disk and streams it back as the response body.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Spot a Fake Login Page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B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Also live in-app at the /awareness route — not just in this deck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9164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76479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Wrong or unusual URL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764792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for lookalike spellings in the address bar, e.g. 'aiou-login.com' vs the real domain.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603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63347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HTTPS / padlock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89120" y="2633472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missing padlock or 'Not Secure' warning is a major red flag on any login page.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290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50215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Unsolicited urgency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89120" y="3502152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'Log in immediately' messages are a pressure tactic to bypass careful thinking.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3708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Off-brand details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89120" y="4370832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 pages reuse real logos but often get spacing, colour, or wording slightly wrong.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5166360"/>
            <a:ext cx="10881360" cy="731520"/>
          </a:xfrm>
          <a:prstGeom prst="roundRect">
            <a:avLst>
              <a:gd name="adj" fmla="val 6250"/>
            </a:avLst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6636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80160" y="523951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Unexpected prompts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89120" y="5239512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Being asked to log in again from an email link you didn't request is suspicious.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&amp; Deliverables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91640"/>
            <a:ext cx="5257800" cy="4343400"/>
          </a:xfrm>
          <a:prstGeom prst="roundRect">
            <a:avLst>
              <a:gd name="adj" fmla="val 1263"/>
            </a:avLst>
          </a:prstGeom>
          <a:solidFill>
            <a:srgbClr val="0D1410"/>
          </a:solidFill>
          <a:ln w="12700">
            <a:solidFill>
              <a:srgbClr val="39FF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ACHIEVED OUTCOMES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100"/>
              </a:spcAft>
              <a:buSzPct val="100000"/>
              <a:buChar char="✓"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 Java HTTP server on localhost:8080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Safe, simulated credential-submission flow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 terminal-themed UI across all pages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non-sensitive access logging (FileWriter)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/awareness guide route with comparison table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code published on GitHub with README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257800" cy="4343400"/>
          </a:xfrm>
          <a:prstGeom prst="roundRect">
            <a:avLst>
              <a:gd name="adj" fmla="val 1263"/>
            </a:avLst>
          </a:prstGeom>
          <a:solidFill>
            <a:srgbClr val="0D1410"/>
          </a:solidFill>
          <a:ln w="12700">
            <a:solidFill>
              <a:srgbClr val="E0B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DELIVERABLES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4231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 Java source code on GitHub</a:t>
            </a:r>
            <a:endParaRPr lang="en-US" sz="1200" dirty="0"/>
          </a:p>
          <a:p>
            <a:pPr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Dark-themed HTML/CSS pages in the repo</a:t>
            </a:r>
            <a:endParaRPr lang="en-US" sz="1200" dirty="0"/>
          </a:p>
          <a:p>
            <a:pPr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log file (manually written, not live data)</a:t>
            </a:r>
            <a:endParaRPr lang="en-US" sz="1200" dirty="0"/>
          </a:p>
          <a:p>
            <a:pPr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written report + presentation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of the full flow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81328"/>
            <a:ext cx="10881360" cy="0"/>
          </a:xfrm>
          <a:prstGeom prst="line">
            <a:avLst/>
          </a:prstGeom>
          <a:noFill/>
          <a:ln w="12700">
            <a:solidFill>
              <a:srgbClr val="1F3D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F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CURRENT LIMITATIONS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›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only on localhost - not a deployed simulation</a:t>
            </a:r>
            <a:endParaRPr lang="en-US" sz="12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HTTP - no HTTPS/encryption support</a:t>
            </a:r>
            <a:endParaRPr lang="en-US" sz="12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live data pipeline (by design, for safety)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Single-session use only on localhost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0" y="1691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FUTURE 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19456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›"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Sandboxed opt-in logging with explicit on-screen consent</a:t>
            </a:r>
            <a:endParaRPr lang="en-US" sz="12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 via self-signed certificate, to teach encryption too</a:t>
            </a:r>
            <a:endParaRPr lang="en-US" sz="12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detection module flagging suspicious login pages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 further toward defensive security tooling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phishing_awareness_demo.exe  |  OOP Lab — CS3506  |  Abdul Basit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0" y="6519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6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822960"/>
            <a:ext cx="1371600" cy="1371600"/>
          </a:xfrm>
          <a:prstGeom prst="ellipse">
            <a:avLst/>
          </a:prstGeom>
          <a:solidFill>
            <a:srgbClr val="0D1410"/>
          </a:solidFill>
          <a:ln w="12700">
            <a:solidFill>
              <a:srgbClr val="1F3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94960" y="8229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9F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Conclusion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3337560"/>
            <a:ext cx="9235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project met its academic goal: building a working demonstration of how phishing attacks are technically constructed - the server, the routing, the convincing frontend, and the exact moment of attack - while keeping the finished tool fully incapable of causing harm, even by accident.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937760" y="4754880"/>
            <a:ext cx="2286000" cy="0"/>
          </a:xfrm>
          <a:prstGeom prst="line">
            <a:avLst/>
          </a:prstGeom>
          <a:noFill/>
          <a:ln w="19050">
            <a:solidFill>
              <a:srgbClr val="2455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B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D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&amp;gt; Questions?_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2026-07-13T01:47:23Z</dcterms:created>
  <dcterms:modified xsi:type="dcterms:W3CDTF">2026-07-13T01:47:23Z</dcterms:modified>
</cp:coreProperties>
</file>